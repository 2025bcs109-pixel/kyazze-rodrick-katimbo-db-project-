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1" r:id="rId6"/>
    <p:sldId id="265" r:id="rId7"/>
    <p:sldId id="259" r:id="rId8"/>
    <p:sldId id="258" r:id="rId9"/>
    <p:sldId id="269" r:id="rId10"/>
    <p:sldId id="266" r:id="rId11"/>
    <p:sldId id="267" r:id="rId12"/>
    <p:sldId id="268" r:id="rId13"/>
    <p:sldId id="270" r:id="rId14"/>
    <p:sldId id="260" r:id="rId15"/>
    <p:sldId id="264" r:id="rId16"/>
    <p:sldId id="262" r:id="rId17"/>
    <p:sldId id="26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6" autoAdjust="0"/>
    <p:restoredTop sz="94660"/>
  </p:normalViewPr>
  <p:slideViewPr>
    <p:cSldViewPr snapToGrid="0">
      <p:cViewPr varScale="1">
        <p:scale>
          <a:sx n="47" d="100"/>
          <a:sy n="47" d="100"/>
        </p:scale>
        <p:origin x="42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80F57-D39C-4777-8CDC-D258841076E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8F415-6703-4107-AAA8-8C8AF56F42E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F8F415-6703-4107-AAA8-8C8AF56F42E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F8F415-6703-4107-AAA8-8C8AF56F42E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31F14-E3FC-409C-BF66-F19A6D4AA2E5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6D301-2377-4E68-90CB-1D46C71C8370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443B3-B7B1-4BC1-9B8B-AC29E81E46E9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AB987-CA1B-4B6A-8214-FDD1C6679619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C4095-F46B-4B90-9D6B-208910016392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A4B2C-62A2-4853-8ADD-3697E9032540}" type="datetime1">
              <a:rPr lang="en-US" smtClean="0"/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68694-D9D9-477E-901B-88FDC11E9FF9}" type="datetime1">
              <a:rPr lang="en-US" smtClean="0"/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D88E3-2F46-4F18-9B4A-D74655E41489}" type="datetime1">
              <a:rPr lang="en-US" smtClean="0"/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7F07E-8C81-429E-93B3-7332ED19E233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5430F-2851-499F-83A1-0B6481D0748F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47094-6369-4F93-9717-55012D88F917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C6670-995C-4FFB-BB1D-333770DD150E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 panose="020B0604020202020204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C915C-7C10-453A-82BB-7A4E342D9E91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D69F5-B096-44D5-82A2-7CC44930EB56}" type="datetime1">
              <a:rPr lang="en-US" smtClean="0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0A158-8AED-4928-9001-097617B98567}" type="datetime1">
              <a:rPr lang="en-US" smtClean="0"/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07288-B1BB-4737-AC58-55C6D9DE5EB8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22C6-F672-459F-B05A-80B08FCD0C4B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image" Target="../media/image4.png"/><Relationship Id="rId20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9" Type="http://schemas.openxmlformats.org/officeDocument/2006/relationships/image" Target="../media/image2.png"/><Relationship Id="rId18" Type="http://schemas.openxmlformats.org/officeDocument/2006/relationships/image" Target="../media/image1.pn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>
            <a:fillRect/>
          </a:stretch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>
            <a:fillRect/>
          </a:stretch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>
            <a:fillRect/>
          </a:stretch>
        </p:blipFill>
        <p:spPr>
          <a:xfrm>
            <a:off x="7499358" y="22987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>
            <a:fillRect/>
          </a:stretch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0310" y="464129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002862" y="1943477"/>
            <a:ext cx="1221884" cy="23053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2000" b="0" i="0">
                <a:solidFill>
                  <a:srgbClr val="FFFF00">
                    <a:alpha val="6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4D29588-44FE-4329-A043-C08B2FB24BE6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2800" b="0" i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  <p:hf hdr="0" ftr="0"/>
  <p:txStyles>
    <p:titleStyle>
      <a:lvl1pPr algn="ctr" defTabSz="457200" rtl="0" eaLnBrk="1" latinLnBrk="0" hangingPunct="1">
        <a:spcBef>
          <a:spcPct val="0"/>
        </a:spcBef>
        <a:buNone/>
        <a:defRPr sz="2800" b="1" i="0" u="sng" kern="1200">
          <a:solidFill>
            <a:srgbClr val="FF000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8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8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8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8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8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5pPr>
      <a:lvl6pPr marL="250571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711201" y="685801"/>
            <a:ext cx="8966200" cy="3429000"/>
          </a:xfrm>
        </p:spPr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MANAGEMENT SYSTEM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002554" y="4231280"/>
            <a:ext cx="9055845" cy="2385420"/>
          </a:xfrm>
        </p:spPr>
        <p:txBody>
          <a:bodyPr/>
          <a:lstStyle/>
          <a:p>
            <a:r>
              <a:rPr lang="en-US" dirty="0" smtClean="0"/>
              <a:t>COURSE: DATABASE SYSTEMS</a:t>
            </a:r>
            <a:endParaRPr lang="en-US" dirty="0" smtClean="0"/>
          </a:p>
          <a:p>
            <a:r>
              <a:rPr lang="en-US" dirty="0" smtClean="0"/>
              <a:t>PROJECT: SUPERMARKET               GROUP: GROUP 4</a:t>
            </a:r>
            <a:endParaRPr lang="en-US" dirty="0" smtClean="0"/>
          </a:p>
          <a:p>
            <a:r>
              <a:rPr lang="en-US" dirty="0" smtClean="0"/>
              <a:t>NAME: KYAZZE RODRICK KATIMBO</a:t>
            </a:r>
            <a:endParaRPr lang="en-US" dirty="0" smtClean="0"/>
          </a:p>
          <a:p>
            <a:r>
              <a:rPr lang="en-US" dirty="0" smtClean="0"/>
              <a:t>REG NO: 2025/BCS/109/PS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74431-1686-48DA-99C8-E5FE327453A7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530310" y="464129"/>
            <a:ext cx="9404723" cy="983672"/>
          </a:xfrm>
        </p:spPr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30310" y="1447802"/>
            <a:ext cx="9404723" cy="5410198"/>
          </a:xfrm>
        </p:spPr>
        <p:txBody>
          <a:bodyPr/>
          <a:lstStyle/>
          <a:p>
            <a:r>
              <a:rPr lang="en-US" dirty="0"/>
              <a:t>The Employee Management System is a database-based system designed to help supermarkets manage employee information efficiently.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replaces manual record-keeping methods with a computerized system for better storage, retrieval, and management of employee data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BC340-0AC7-49EE-BB1A-55C0EDB4221E}" type="datetime1">
              <a:rPr lang="en-US" smtClean="0"/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0310" y="464129"/>
            <a:ext cx="9404723" cy="755071"/>
          </a:xfrm>
        </p:spPr>
        <p:txBody>
          <a:bodyPr/>
          <a:lstStyle/>
          <a:p>
            <a:r>
              <a:rPr lang="en-US" dirty="0" smtClean="0"/>
              <a:t>WHY THIS SYSTEM?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04800" y="1219200"/>
            <a:ext cx="10047740" cy="5445760"/>
          </a:xfrm>
        </p:spPr>
        <p:txBody>
          <a:bodyPr/>
          <a:lstStyle/>
          <a:p>
            <a:r>
              <a:rPr lang="en-US" dirty="0"/>
              <a:t>The supermarket manages employee records manually, causing delays, errors, poor attendance tracking, payroll mistakes, and difficulty monitoring staff performance</a:t>
            </a:r>
            <a:r>
              <a:rPr lang="en-US" dirty="0" smtClean="0"/>
              <a:t>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Therefore the developed </a:t>
            </a:r>
            <a:r>
              <a:rPr lang="en-US" dirty="0"/>
              <a:t>Employee Management System </a:t>
            </a:r>
            <a:r>
              <a:rPr lang="en-US" dirty="0" smtClean="0"/>
              <a:t>stores </a:t>
            </a:r>
            <a:r>
              <a:rPr lang="en-US" dirty="0"/>
              <a:t>employee details, </a:t>
            </a:r>
            <a:r>
              <a:rPr lang="en-US" dirty="0" smtClean="0"/>
              <a:t>manages </a:t>
            </a:r>
            <a:r>
              <a:rPr lang="en-US" dirty="0"/>
              <a:t>attendance, </a:t>
            </a:r>
            <a:r>
              <a:rPr lang="en-US" dirty="0" smtClean="0"/>
              <a:t>tracks </a:t>
            </a:r>
            <a:r>
              <a:rPr lang="en-US" dirty="0"/>
              <a:t>salaries, </a:t>
            </a:r>
            <a:r>
              <a:rPr lang="en-US" dirty="0" smtClean="0"/>
              <a:t>assigns roles</a:t>
            </a:r>
            <a:r>
              <a:rPr lang="en-US" dirty="0"/>
              <a:t>, and </a:t>
            </a:r>
            <a:r>
              <a:rPr lang="en-US" dirty="0" smtClean="0"/>
              <a:t>generates </a:t>
            </a:r>
            <a:r>
              <a:rPr lang="en-US" dirty="0"/>
              <a:t>reports.</a:t>
            </a:r>
            <a:endParaRPr lang="en-US" dirty="0"/>
          </a:p>
          <a:p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ED95-992C-4EF9-9EC7-459617FE42A4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0310" y="464129"/>
            <a:ext cx="9404723" cy="983671"/>
          </a:xfrm>
        </p:spPr>
        <p:txBody>
          <a:bodyPr/>
          <a:lstStyle/>
          <a:p>
            <a:r>
              <a:rPr lang="en-US" dirty="0" smtClean="0"/>
              <a:t>SYSTEM REQUIREMENTS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lvl="0" indent="-514350">
              <a:buClr>
                <a:srgbClr val="FFFF00"/>
              </a:buClr>
              <a:buFont typeface="+mj-lt"/>
              <a:buAutoNum type="arabicPeriod"/>
            </a:pPr>
            <a:r>
              <a:rPr lang="en-US" dirty="0"/>
              <a:t>Computer system</a:t>
            </a:r>
            <a:endParaRPr lang="en-US" dirty="0"/>
          </a:p>
          <a:p>
            <a:pPr marL="514350" lvl="0" indent="-514350">
              <a:buClr>
                <a:srgbClr val="FFFF00"/>
              </a:buClr>
              <a:buFont typeface="+mj-lt"/>
              <a:buAutoNum type="arabicPeriod"/>
            </a:pPr>
            <a:r>
              <a:rPr lang="en-US" dirty="0"/>
              <a:t>Database software (e.g. MySQL)</a:t>
            </a:r>
            <a:endParaRPr lang="en-US" dirty="0"/>
          </a:p>
          <a:p>
            <a:pPr marL="514350" lvl="0" indent="-514350">
              <a:buClr>
                <a:srgbClr val="FFFF00"/>
              </a:buClr>
              <a:buFont typeface="+mj-lt"/>
              <a:buAutoNum type="arabicPeriod"/>
            </a:pPr>
            <a:r>
              <a:rPr lang="en-US" dirty="0"/>
              <a:t>Programming tools (e.g. Visual Studio Code or NetBeans)</a:t>
            </a:r>
            <a:endParaRPr lang="en-US" dirty="0"/>
          </a:p>
          <a:p>
            <a:pPr marL="514350" lvl="0" indent="-514350">
              <a:buClr>
                <a:srgbClr val="FFFF00"/>
              </a:buClr>
              <a:buFont typeface="+mj-lt"/>
              <a:buAutoNum type="arabicPeriod"/>
            </a:pPr>
            <a:r>
              <a:rPr lang="en-US" dirty="0"/>
              <a:t>Internet connection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3F6-771C-48B1-BCEC-9CCEA8ADB83C}" type="datetime1">
              <a:rPr lang="en-US" smtClean="0"/>
            </a:fld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0310" y="464129"/>
            <a:ext cx="9404723" cy="983672"/>
          </a:xfrm>
        </p:spPr>
        <p:txBody>
          <a:bodyPr/>
          <a:lstStyle/>
          <a:p>
            <a:r>
              <a:rPr lang="en-US" dirty="0" smtClean="0"/>
              <a:t>OBJECTIVES OF THE SYSTEM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30310" y="1447800"/>
            <a:ext cx="9404723" cy="4607559"/>
          </a:xfrm>
        </p:spPr>
        <p:txBody>
          <a:bodyPr/>
          <a:lstStyle/>
          <a:p>
            <a:pPr lvl="0"/>
            <a:r>
              <a:rPr lang="en-US" dirty="0"/>
              <a:t>To store employee records digitally.</a:t>
            </a:r>
            <a:endParaRPr lang="en-US" dirty="0"/>
          </a:p>
          <a:p>
            <a:pPr lvl="0"/>
            <a:r>
              <a:rPr lang="en-US" dirty="0"/>
              <a:t>To track attendance of employees.</a:t>
            </a:r>
            <a:endParaRPr lang="en-US" dirty="0"/>
          </a:p>
          <a:p>
            <a:pPr lvl="0"/>
            <a:r>
              <a:rPr lang="en-US" dirty="0"/>
              <a:t>To manage employee roles and salaries.</a:t>
            </a:r>
            <a:endParaRPr lang="en-US" dirty="0"/>
          </a:p>
          <a:p>
            <a:pPr lvl="0"/>
            <a:r>
              <a:rPr lang="en-US" dirty="0"/>
              <a:t>To assign work shifts.</a:t>
            </a:r>
            <a:endParaRPr lang="en-US" dirty="0"/>
          </a:p>
          <a:p>
            <a:pPr lvl="0"/>
            <a:r>
              <a:rPr lang="en-US" dirty="0"/>
              <a:t>To improve efficiency in employee management.</a:t>
            </a:r>
            <a:endParaRPr lang="en-US" dirty="0"/>
          </a:p>
          <a:p>
            <a:pPr lvl="0"/>
            <a:r>
              <a:rPr lang="en-US" dirty="0"/>
              <a:t>To reduce paperwork and save time.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05B20-F3C2-47D4-BA54-A139E5235223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0310" y="464129"/>
            <a:ext cx="9404723" cy="775391"/>
          </a:xfrm>
        </p:spPr>
        <p:txBody>
          <a:bodyPr/>
          <a:lstStyle/>
          <a:p>
            <a:r>
              <a:rPr lang="en-US" dirty="0" smtClean="0"/>
              <a:t>SYSTEM SCOPE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3759" y="1447800"/>
            <a:ext cx="8900161" cy="4810759"/>
          </a:xfrm>
        </p:spPr>
        <p:txBody>
          <a:bodyPr/>
          <a:lstStyle/>
          <a:p>
            <a:pPr lvl="0">
              <a:buClr>
                <a:srgbClr val="FF0000"/>
              </a:buClr>
            </a:pPr>
            <a:r>
              <a:rPr lang="en-US" dirty="0"/>
              <a:t>Employee registration</a:t>
            </a:r>
            <a:endParaRPr lang="en-US" dirty="0"/>
          </a:p>
          <a:p>
            <a:pPr lvl="0">
              <a:buClr>
                <a:srgbClr val="FF0000"/>
              </a:buClr>
            </a:pPr>
            <a:r>
              <a:rPr lang="en-US" dirty="0"/>
              <a:t>Attendance management</a:t>
            </a:r>
            <a:endParaRPr lang="en-US" dirty="0"/>
          </a:p>
          <a:p>
            <a:pPr lvl="0">
              <a:buClr>
                <a:srgbClr val="FF0000"/>
              </a:buClr>
            </a:pPr>
            <a:r>
              <a:rPr lang="en-US" dirty="0"/>
              <a:t>Role assignment</a:t>
            </a:r>
            <a:endParaRPr lang="en-US" dirty="0"/>
          </a:p>
          <a:p>
            <a:pPr lvl="0">
              <a:buClr>
                <a:srgbClr val="FF0000"/>
              </a:buClr>
            </a:pPr>
            <a:r>
              <a:rPr lang="en-US" dirty="0"/>
              <a:t>Shift scheduling</a:t>
            </a:r>
            <a:endParaRPr lang="en-US" dirty="0"/>
          </a:p>
          <a:p>
            <a:pPr lvl="0">
              <a:buClr>
                <a:srgbClr val="FF0000"/>
              </a:buClr>
            </a:pPr>
            <a:r>
              <a:rPr lang="en-US" dirty="0"/>
              <a:t>Salary and payroll management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D645-E317-48A8-8157-2EA802F5CDA2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0310" y="464129"/>
            <a:ext cx="9404723" cy="775391"/>
          </a:xfrm>
        </p:spPr>
        <p:txBody>
          <a:bodyPr/>
          <a:lstStyle/>
          <a:p>
            <a:r>
              <a:rPr lang="en-US" dirty="0" smtClean="0"/>
              <a:t>SYSTEM ER DIAGRAM </a:t>
            </a:r>
            <a:endParaRPr lang="en-US" dirty="0"/>
          </a:p>
        </p:txBody>
      </p:sp>
      <p:pic>
        <p:nvPicPr>
          <p:cNvPr id="1026" name="Image1"/>
          <p:cNvPicPr>
            <a:picLocks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363345" y="1339215"/>
            <a:ext cx="8571230" cy="4928235"/>
          </a:xfrm>
          <a:prstGeom prst="rect">
            <a:avLst/>
          </a:prstGeom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D645-E317-48A8-8157-2EA802F5CDA2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0310" y="464129"/>
            <a:ext cx="9404723" cy="775391"/>
          </a:xfrm>
        </p:spPr>
        <p:txBody>
          <a:bodyPr/>
          <a:lstStyle/>
          <a:p>
            <a:r>
              <a:rPr lang="en-US" dirty="0"/>
              <a:t>SYSTEM TABLES AND THEIR ATTRIBUTES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73759" y="1447800"/>
            <a:ext cx="8900161" cy="4810759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9D645-E317-48A8-8157-2EA802F5CDA2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1261745" y="2029460"/>
          <a:ext cx="8070850" cy="3973830"/>
        </p:xfrm>
        <a:graphic>
          <a:graphicData uri="http://schemas.openxmlformats.org/drawingml/2006/table">
            <a:tbl>
              <a:tblPr/>
              <a:tblGrid>
                <a:gridCol w="1575435"/>
                <a:gridCol w="1521460"/>
                <a:gridCol w="1575435"/>
                <a:gridCol w="1522095"/>
                <a:gridCol w="1876425"/>
              </a:tblGrid>
              <a:tr h="79565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Employee Table</a:t>
                      </a:r>
                      <a:endParaRPr sz="1200" b="1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Role Table</a:t>
                      </a:r>
                      <a:endParaRPr sz="1200" b="1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Attendance Table</a:t>
                      </a:r>
                      <a:endParaRPr sz="1200" b="1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Shift Table</a:t>
                      </a:r>
                      <a:endParaRPr sz="1200" b="1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 b="1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EmployeeShift Table</a:t>
                      </a:r>
                      <a:endParaRPr sz="1200" b="1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430530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EmployeeID(PK)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RoleID(PK)</a:t>
                      </a:r>
                      <a:endParaRPr sz="1200" u="sng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AttendanceID(PK)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ShiftID(PK)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ID(PK)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90525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FirstName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RoleName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EmployeeID(FK)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ShiftName 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EmployeeID(FK)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90525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LastName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Salary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Date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StartTime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ShiftID(FK)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405130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Gender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Status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EndTime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89890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Phone 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90525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Address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90525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DateOfHire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  <a:tr h="390525"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RoleID(FK)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200">
                          <a:solidFill>
                            <a:srgbClr val="00B0F0"/>
                          </a:solidFill>
                          <a:latin typeface="Times New Roman" panose="02020603050405020304"/>
                          <a:ea typeface="SimSun" panose="02010600030101010101" pitchFamily="2" charset="-122"/>
                        </a:rPr>
                        <a:t> </a:t>
                      </a: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p>
                      <a:pPr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200">
                        <a:solidFill>
                          <a:srgbClr val="00B0F0"/>
                        </a:solidFill>
                        <a:latin typeface="Times New Roman" panose="02020603050405020304"/>
                        <a:ea typeface="SimSun" panose="02010600030101010101" pitchFamily="2" charset="-122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gradFill>
                      <a:gsLst>
                        <a:gs pos="50000">
                          <a:schemeClr val="tx1"/>
                        </a:gs>
                        <a:gs pos="0">
                          <a:schemeClr val="tx1">
                            <a:lumMod val="25000"/>
                            <a:lumOff val="75000"/>
                          </a:schemeClr>
                        </a:gs>
                        <a:gs pos="100000">
                          <a:schemeClr val="tx1">
                            <a:lumMod val="85000"/>
                          </a:schemeClr>
                        </a:gs>
                      </a:gsLst>
                      <a:lin ang="5400000" scaled="1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464185"/>
            <a:ext cx="9404985" cy="1497965"/>
          </a:xfrm>
        </p:spPr>
        <p:txBody>
          <a:bodyPr/>
          <a:p>
            <a:r>
              <a:rPr lang="en-US" altLang="en-GB"/>
              <a:t>TABLES QUERIES</a:t>
            </a:r>
            <a:endParaRPr lang="en-US" altLang="en-GB"/>
          </a:p>
        </p:txBody>
      </p:sp>
      <p:pic>
        <p:nvPicPr>
          <p:cNvPr id="6" name="Picture 4" descr="Screenshot 2026-05-06 19154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02995" y="1962150"/>
            <a:ext cx="8390890" cy="405765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266D301-2377-4E68-90CB-1D46C71C8370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02111984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464185"/>
            <a:ext cx="9404985" cy="1497965"/>
          </a:xfrm>
        </p:spPr>
        <p:txBody>
          <a:bodyPr/>
          <a:p>
            <a:r>
              <a:rPr lang="en-US" altLang="en-GB"/>
              <a:t>SOME OF THE TABLES RESULTS</a:t>
            </a:r>
            <a:endParaRPr lang="en-US" alt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266D301-2377-4E68-90CB-1D46C71C8370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02111984F565}" type="slidenum">
              <a:rPr lang="en-US" dirty="0"/>
            </a:fld>
            <a:endParaRPr lang="en-US" dirty="0"/>
          </a:p>
        </p:txBody>
      </p:sp>
      <p:pic>
        <p:nvPicPr>
          <p:cNvPr id="7" name="Picture 5" descr="Screenshot 2026-05-06 19172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02995" y="1203325"/>
            <a:ext cx="8946515" cy="2225675"/>
          </a:xfrm>
          <a:prstGeom prst="rect">
            <a:avLst/>
          </a:prstGeom>
        </p:spPr>
      </p:pic>
      <p:pic>
        <p:nvPicPr>
          <p:cNvPr id="9" name="Picture 6" descr="Screenshot 2026-05-06 1816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95" y="3564890"/>
            <a:ext cx="8946515" cy="2486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5"/>
            </a:gs>
            <a:gs pos="0">
              <a:schemeClr val="accent5">
                <a:lumMod val="25000"/>
                <a:lumOff val="75000"/>
              </a:schemeClr>
            </a:gs>
            <a:gs pos="100000">
              <a:schemeClr val="accent5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464185"/>
            <a:ext cx="9404985" cy="1497965"/>
          </a:xfrm>
        </p:spPr>
        <p:txBody>
          <a:bodyPr/>
          <a:p>
            <a:r>
              <a:rPr lang="en-US" altLang="en-GB"/>
              <a:t>SOME OF THE TABLES RESULTS</a:t>
            </a:r>
            <a:endParaRPr lang="en-US" alt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2266D301-2377-4E68-90CB-1D46C71C8370}" type="datetime1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D57F1E4F-1CFF-5643-939E-02111984F565}" type="slidenum">
              <a:rPr lang="en-US" dirty="0"/>
            </a:fld>
            <a:endParaRPr lang="en-US" dirty="0"/>
          </a:p>
        </p:txBody>
      </p:sp>
      <p:pic>
        <p:nvPicPr>
          <p:cNvPr id="6" name="Picture 7" descr="Screenshot 2026-05-06 18235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16305" y="1260475"/>
            <a:ext cx="8947150" cy="2574290"/>
          </a:xfrm>
          <a:prstGeom prst="rect">
            <a:avLst/>
          </a:prstGeom>
        </p:spPr>
      </p:pic>
      <p:pic>
        <p:nvPicPr>
          <p:cNvPr id="8" name="Picture 8" descr="Screenshot 2026-05-06 184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05" y="3923030"/>
            <a:ext cx="9018905" cy="25247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0310" y="464129"/>
            <a:ext cx="9404723" cy="836351"/>
          </a:xfrm>
        </p:spPr>
        <p:txBody>
          <a:bodyPr/>
          <a:lstStyle/>
          <a:p>
            <a:r>
              <a:rPr lang="en-US" dirty="0" smtClean="0"/>
              <a:t>SYSTEM BENEFITS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84480" y="1300480"/>
            <a:ext cx="9765373" cy="5364480"/>
          </a:xfrm>
        </p:spPr>
        <p:txBody>
          <a:bodyPr>
            <a:normAutofit lnSpcReduction="10000"/>
          </a:bodyPr>
          <a:lstStyle/>
          <a:p>
            <a:pPr lvl="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dirty="0"/>
              <a:t>Faster employee record management.</a:t>
            </a:r>
            <a:endParaRPr lang="en-US" dirty="0"/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dirty="0"/>
              <a:t>Reduced paper work costs.</a:t>
            </a:r>
            <a:endParaRPr lang="en-US" dirty="0"/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dirty="0"/>
              <a:t>Accurate salary calculation.</a:t>
            </a:r>
            <a:endParaRPr lang="en-US" dirty="0"/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dirty="0"/>
              <a:t>Improved attendance </a:t>
            </a:r>
            <a:r>
              <a:rPr lang="en-US" dirty="0" smtClean="0"/>
              <a:t>tracking</a:t>
            </a:r>
            <a:endParaRPr lang="en-US" dirty="0"/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dirty="0" smtClean="0"/>
              <a:t> </a:t>
            </a:r>
            <a:r>
              <a:rPr lang="en-US" dirty="0"/>
              <a:t>Better decision making by </a:t>
            </a:r>
            <a:r>
              <a:rPr lang="en-US" dirty="0" smtClean="0"/>
              <a:t>management.</a:t>
            </a:r>
            <a:endParaRPr lang="en-US" dirty="0" smtClean="0"/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dirty="0" smtClean="0"/>
              <a:t>Increased </a:t>
            </a:r>
            <a:r>
              <a:rPr lang="en-US" dirty="0"/>
              <a:t>employee </a:t>
            </a:r>
            <a:r>
              <a:rPr lang="en-US" dirty="0" smtClean="0"/>
              <a:t>accountability.</a:t>
            </a:r>
            <a:endParaRPr lang="en-US" sz="2400" dirty="0"/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dirty="0" smtClean="0"/>
              <a:t>Improved </a:t>
            </a:r>
            <a:r>
              <a:rPr lang="en-US" dirty="0"/>
              <a:t>data </a:t>
            </a:r>
            <a:r>
              <a:rPr lang="en-US" dirty="0" smtClean="0"/>
              <a:t>organization.</a:t>
            </a:r>
            <a:endParaRPr lang="en-US" sz="2400" dirty="0"/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dirty="0" smtClean="0"/>
              <a:t>Enhanced </a:t>
            </a:r>
            <a:r>
              <a:rPr lang="en-US" dirty="0"/>
              <a:t>data </a:t>
            </a:r>
            <a:r>
              <a:rPr lang="en-US" dirty="0" smtClean="0"/>
              <a:t>security.</a:t>
            </a:r>
            <a:endParaRPr lang="en-US" sz="2400" dirty="0"/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dirty="0" smtClean="0"/>
              <a:t>Time saving.</a:t>
            </a:r>
            <a:endParaRPr lang="en-US" sz="2400" dirty="0"/>
          </a:p>
          <a:p>
            <a:pPr lvl="0">
              <a:buClr>
                <a:srgbClr val="00B050"/>
              </a:buClr>
              <a:buFont typeface="Wingdings" panose="05000000000000000000" pitchFamily="2" charset="2"/>
              <a:buChar char="Ø"/>
            </a:pPr>
            <a:r>
              <a:rPr lang="en-US" dirty="0" smtClean="0"/>
              <a:t>Improved </a:t>
            </a:r>
            <a:r>
              <a:rPr lang="en-US" dirty="0"/>
              <a:t>data accuracy and validity.</a:t>
            </a:r>
            <a:endParaRPr lang="en-US" sz="2400" dirty="0"/>
          </a:p>
          <a:p>
            <a:pPr>
              <a:buClr>
                <a:srgbClr val="00B050"/>
              </a:buClr>
            </a:pP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C504D-DCC9-40CB-8653-70016C4A197F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30310" y="464129"/>
            <a:ext cx="9404723" cy="599287"/>
          </a:xfrm>
        </p:spPr>
        <p:txBody>
          <a:bodyPr/>
          <a:lstStyle/>
          <a:p>
            <a:r>
              <a:rPr lang="en-US" dirty="0" smtClean="0"/>
              <a:t>SYSTEM LIMITATIONS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530310" y="1727200"/>
            <a:ext cx="9519543" cy="4521199"/>
          </a:xfrm>
        </p:spPr>
        <p:txBody>
          <a:bodyPr/>
          <a:lstStyle/>
          <a:p>
            <a:pPr lvl="2">
              <a:buClr>
                <a:srgbClr val="7030A0"/>
              </a:buClr>
              <a:buFont typeface="Wingdings 3" charset="2"/>
              <a:buChar char=""/>
            </a:pPr>
            <a:r>
              <a:rPr lang="en-US" altLang="en-US" sz="2400" dirty="0"/>
              <a:t></a:t>
            </a:r>
            <a:r>
              <a:rPr lang="en-US" altLang="en-GB" sz="2400" dirty="0"/>
              <a:t>Requires computers and electricity.</a:t>
            </a:r>
            <a:endParaRPr lang="en-US" altLang="en-GB" sz="2400" dirty="0"/>
          </a:p>
          <a:p>
            <a:pPr lvl="2">
              <a:buClr>
                <a:srgbClr val="7030A0"/>
              </a:buClr>
              <a:buFont typeface="Wingdings 3" charset="2"/>
              <a:buChar char=""/>
            </a:pPr>
            <a:r>
              <a:rPr lang="en-US" altLang="en-US" sz="2400" dirty="0"/>
              <a:t></a:t>
            </a:r>
            <a:r>
              <a:rPr lang="en-US" altLang="en-GB" sz="2400" dirty="0"/>
              <a:t>Requires user training.</a:t>
            </a:r>
            <a:endParaRPr lang="en-US" altLang="en-GB" sz="2400" dirty="0"/>
          </a:p>
          <a:p>
            <a:pPr lvl="2">
              <a:buClr>
                <a:srgbClr val="7030A0"/>
              </a:buClr>
              <a:buFont typeface="Wingdings 3" charset="2"/>
              <a:buChar char=""/>
            </a:pPr>
            <a:r>
              <a:rPr lang="en-US" altLang="en-US" sz="2400" dirty="0"/>
              <a:t></a:t>
            </a:r>
            <a:r>
              <a:rPr lang="en-US" altLang="en-GB" sz="2400" dirty="0"/>
              <a:t>Needs maintenance.</a:t>
            </a:r>
            <a:endParaRPr lang="en-US" altLang="en-GB" sz="2400" dirty="0"/>
          </a:p>
          <a:p>
            <a:pPr lvl="2">
              <a:buClr>
                <a:srgbClr val="7030A0"/>
              </a:buClr>
              <a:buFont typeface="Wingdings 3" charset="2"/>
              <a:buChar char=""/>
            </a:pPr>
            <a:r>
              <a:rPr lang="en-US" altLang="en-US" sz="2400" dirty="0"/>
              <a:t></a:t>
            </a:r>
            <a:r>
              <a:rPr lang="en-US" altLang="en-GB" sz="2400" dirty="0"/>
              <a:t>Maynot work well without internet </a:t>
            </a:r>
            <a:r>
              <a:rPr lang="en-US" altLang="en-GB" sz="2400" dirty="0">
                <a:solidFill>
                  <a:schemeClr val="bg1"/>
                </a:solidFill>
              </a:rPr>
              <a:t>which is costly.</a:t>
            </a:r>
            <a:endParaRPr lang="en-US" altLang="en-GB" sz="2400" dirty="0">
              <a:solidFill>
                <a:schemeClr val="bg1"/>
              </a:solidFill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7ED95-992C-4EF9-9EC7-459617FE42A4}" type="datetime1">
              <a:rPr lang="en-US" smtClean="0"/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RISK ASSESSMENT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lvl="0" indent="-571500">
              <a:buClr>
                <a:schemeClr val="accent3">
                  <a:lumMod val="60000"/>
                  <a:lumOff val="40000"/>
                </a:schemeClr>
              </a:buClr>
              <a:buFont typeface="+mj-lt"/>
              <a:buAutoNum type="romanLcPeriod"/>
            </a:pPr>
            <a:r>
              <a:rPr lang="en-US" dirty="0"/>
              <a:t>System failure or bugs</a:t>
            </a:r>
            <a:endParaRPr lang="en-US" dirty="0"/>
          </a:p>
          <a:p>
            <a:pPr marL="571500" lvl="0" indent="-571500">
              <a:buClr>
                <a:schemeClr val="accent3">
                  <a:lumMod val="60000"/>
                  <a:lumOff val="40000"/>
                </a:schemeClr>
              </a:buClr>
              <a:buFont typeface="+mj-lt"/>
              <a:buAutoNum type="romanLcPeriod"/>
            </a:pPr>
            <a:r>
              <a:rPr lang="en-US" dirty="0"/>
              <a:t>Data loss if not backed up</a:t>
            </a:r>
            <a:endParaRPr lang="en-US" dirty="0"/>
          </a:p>
          <a:p>
            <a:pPr marL="571500" lvl="0" indent="-571500">
              <a:buClr>
                <a:schemeClr val="accent3">
                  <a:lumMod val="60000"/>
                  <a:lumOff val="40000"/>
                </a:schemeClr>
              </a:buClr>
              <a:buFont typeface="+mj-lt"/>
              <a:buAutoNum type="romanLcPeriod"/>
            </a:pPr>
            <a:r>
              <a:rPr lang="en-US" dirty="0"/>
              <a:t>Employees resisting the system</a:t>
            </a:r>
            <a:endParaRPr lang="en-US" dirty="0"/>
          </a:p>
          <a:p>
            <a:pPr marL="571500" lvl="0" indent="-571500">
              <a:buClr>
                <a:schemeClr val="accent3">
                  <a:lumMod val="60000"/>
                  <a:lumOff val="40000"/>
                </a:schemeClr>
              </a:buClr>
              <a:buFont typeface="+mj-lt"/>
              <a:buAutoNum type="romanLcPeriod"/>
            </a:pPr>
            <a:r>
              <a:rPr lang="en-US" dirty="0"/>
              <a:t>Poor system usage</a:t>
            </a:r>
            <a:endParaRPr lang="en-US" dirty="0"/>
          </a:p>
          <a:p>
            <a:pPr marL="571500" lvl="0" indent="-571500">
              <a:buClr>
                <a:schemeClr val="accent3">
                  <a:lumMod val="60000"/>
                  <a:lumOff val="40000"/>
                </a:schemeClr>
              </a:buClr>
              <a:buFont typeface="+mj-lt"/>
              <a:buAutoNum type="romanLcPeriod"/>
            </a:pPr>
            <a:r>
              <a:rPr lang="en-US" dirty="0"/>
              <a:t>Security threats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683F6-771C-48B1-BCEC-9CCEA8ADB83C}" type="datetime1">
              <a:rPr lang="en-US" smtClean="0"/>
            </a:fld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953B6-B0C9-4AF6-A104-EE2BB6887CE9}" type="datetime1">
              <a:rPr lang="en-US" smtClean="0"/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</a:fld>
            <a:endParaRPr lang="en-US" dirty="0"/>
          </a:p>
        </p:txBody>
      </p:sp>
      <p:sp useBgFill="1">
        <p:nvSpPr>
          <p:cNvPr id="4" name="TextBox 3"/>
          <p:cNvSpPr txBox="1"/>
          <p:nvPr/>
        </p:nvSpPr>
        <p:spPr>
          <a:xfrm>
            <a:off x="475124" y="2459403"/>
            <a:ext cx="9877246" cy="193899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solidFill>
                  <a:srgbClr val="FF0000"/>
                </a:solidFill>
              </a:rPr>
              <a:t>Thank</a:t>
            </a:r>
            <a:r>
              <a:rPr lang="en-US" sz="6000" dirty="0" smtClean="0"/>
              <a:t> </a:t>
            </a:r>
            <a:r>
              <a:rPr lang="en-US" sz="6000" dirty="0" smtClean="0">
                <a:solidFill>
                  <a:srgbClr val="FFFF00"/>
                </a:solidFill>
              </a:rPr>
              <a:t>you</a:t>
            </a:r>
            <a:r>
              <a:rPr lang="en-US" sz="6000" dirty="0" smtClean="0"/>
              <a:t> </a:t>
            </a:r>
            <a:r>
              <a:rPr lang="en-US" sz="6000" dirty="0" smtClean="0">
                <a:solidFill>
                  <a:srgbClr val="7030A0"/>
                </a:solidFill>
              </a:rPr>
              <a:t>for </a:t>
            </a:r>
            <a:r>
              <a:rPr lang="en-US" sz="6000" dirty="0" smtClean="0">
                <a:solidFill>
                  <a:srgbClr val="00B050"/>
                </a:solidFill>
              </a:rPr>
              <a:t>your </a:t>
            </a:r>
            <a:r>
              <a:rPr lang="en-US" sz="6000" dirty="0" smtClean="0">
                <a:solidFill>
                  <a:srgbClr val="00B0F0"/>
                </a:solidFill>
              </a:rPr>
              <a:t>attention</a:t>
            </a:r>
            <a:r>
              <a:rPr lang="en-US" sz="6000" dirty="0" smtClean="0">
                <a:solidFill>
                  <a:schemeClr val="accent3">
                    <a:lumMod val="75000"/>
                  </a:schemeClr>
                </a:solidFill>
              </a:rPr>
              <a:t>!!!</a:t>
            </a:r>
            <a:endParaRPr lang="en-US" sz="6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635*312"/>
  <p:tag name="TABLE_ENDDRAG_RECT" val="99*159*635*312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2286</Words>
  <Application>WPS Presentation</Application>
  <PresentationFormat>Widescreen</PresentationFormat>
  <Paragraphs>237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Times New Roman</vt:lpstr>
      <vt:lpstr>Wingdings 3</vt:lpstr>
      <vt:lpstr>Symbol</vt:lpstr>
      <vt:lpstr>Arial</vt:lpstr>
      <vt:lpstr>Microsoft YaHei</vt:lpstr>
      <vt:lpstr>Arial Unicode MS</vt:lpstr>
      <vt:lpstr>Calibri</vt:lpstr>
      <vt:lpstr>Century Gothic</vt:lpstr>
      <vt:lpstr>Times New Roman</vt:lpstr>
      <vt:lpstr>Ion</vt:lpstr>
      <vt:lpstr>EMPLOYEE MANAGEMENT SYSTEM</vt:lpstr>
      <vt:lpstr>INTRODUCTION </vt:lpstr>
      <vt:lpstr>WHY THIS SYSTEM?</vt:lpstr>
      <vt:lpstr>SYSTEM REQUIREMENTS</vt:lpstr>
      <vt:lpstr>OBJECTS OF THR SYSTEM</vt:lpstr>
      <vt:lpstr>SYSTEM SCOPE</vt:lpstr>
      <vt:lpstr>SYSTEM SCOPE</vt:lpstr>
      <vt:lpstr>SYSTEM SCOPE</vt:lpstr>
      <vt:lpstr>PowerPoint 演示文稿</vt:lpstr>
      <vt:lpstr>TABLES QUERIES</vt:lpstr>
      <vt:lpstr>SOME OF THE TABLES RESULTS</vt:lpstr>
      <vt:lpstr>SYSTEM BENEFITS</vt:lpstr>
      <vt:lpstr>SYSTEM LIMITATIONS</vt:lpstr>
      <vt:lpstr>SYSTEM RISK ASSESSMENT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EC0</dc:creator>
  <cp:lastModifiedBy>Simie</cp:lastModifiedBy>
  <cp:revision>127</cp:revision>
  <dcterms:created xsi:type="dcterms:W3CDTF">2026-05-04T15:31:00Z</dcterms:created>
  <dcterms:modified xsi:type="dcterms:W3CDTF">2026-05-06T17:47:23Z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47F7A6D7071C4CD7B4442764497DA657_12</vt:lpwstr>
  </property>
  <property fmtid="{D5CDD505-2E9C-101B-9397-08002B2CF9AE}" pid="3" name="KSOProductBuildVer">
    <vt:lpwstr>2057-12.2.0.23202</vt:lpwstr>
  </property>
</Properties>
</file>